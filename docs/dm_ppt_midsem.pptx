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8288000" cy="10287000"/>
  <p:notesSz cx="6858000" cy="9144000"/>
  <p:embeddedFontLst>
    <p:embeddedFont>
      <p:font typeface="Arial Bold" panose="020B0704020202020204" pitchFamily="34" charset="0"/>
      <p:bold r:id="rId11"/>
    </p:embeddedFont>
    <p:embeddedFont>
      <p:font typeface="Playfair Display Bold" panose="020B0604020202020204" charset="0"/>
      <p:regular r:id="rId12"/>
    </p:embeddedFont>
    <p:embeddedFont>
      <p:font typeface="Source Sans 3" panose="020B0604020202020204" charset="0"/>
      <p:regular r:id="rId13"/>
    </p:embeddedFont>
    <p:embeddedFont>
      <p:font typeface="Source Sans 3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381" y="3082852"/>
            <a:ext cx="12191695" cy="1660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96"/>
              </a:lnSpc>
            </a:pPr>
            <a:r>
              <a:rPr lang="en-US" sz="6000" b="1" spc="-89">
                <a:solidFill>
                  <a:srgbClr val="1A2E4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ML and Discrete Mathematics Based Satellite Anomaly Detection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381" y="4696016"/>
            <a:ext cx="17373162" cy="1087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625" dirty="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Identifying unusual satellite orbital patterns using machine learning and Discrete Mathematics.</a:t>
            </a:r>
          </a:p>
          <a:p>
            <a:pPr algn="l">
              <a:lnSpc>
                <a:spcPts val="4356"/>
              </a:lnSpc>
            </a:pPr>
            <a:endParaRPr lang="en-US" sz="2625" dirty="0">
              <a:solidFill>
                <a:srgbClr val="2B3B5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14381" y="6781800"/>
            <a:ext cx="16458790" cy="992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1"/>
              </a:lnSpc>
            </a:pPr>
            <a:r>
              <a:rPr lang="en-US" sz="2550" b="1" dirty="0">
                <a:solidFill>
                  <a:srgbClr val="1F3A5F"/>
                </a:solidFill>
                <a:latin typeface="Arial Bold"/>
                <a:ea typeface="Arial Bold"/>
                <a:cs typeface="Arial Bold"/>
                <a:sym typeface="Arial Bold"/>
              </a:rPr>
              <a:t>Team members:</a:t>
            </a:r>
          </a:p>
          <a:p>
            <a:pPr algn="l">
              <a:lnSpc>
                <a:spcPts val="3701"/>
              </a:lnSpc>
            </a:pPr>
            <a:r>
              <a:rPr lang="en-US" sz="2550" dirty="0">
                <a:solidFill>
                  <a:srgbClr val="1F3A5F"/>
                </a:solidFill>
                <a:latin typeface="Arial"/>
                <a:ea typeface="Arial"/>
                <a:cs typeface="Arial"/>
                <a:sym typeface="Arial"/>
              </a:rPr>
              <a:t>Sushrut Deshmukh · Shubham Vadar · Nidhi Agrawal · Kushi Wanjari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23906" y="1011850"/>
            <a:ext cx="16458790" cy="644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4800" b="1" spc="-72">
                <a:solidFill>
                  <a:srgbClr val="1A2E4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Problem Statement and Objectives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14381" y="1963788"/>
            <a:ext cx="8019850" cy="7427862"/>
            <a:chOff x="0" y="0"/>
            <a:chExt cx="10693133" cy="99038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693146" cy="9903714"/>
            </a:xfrm>
            <a:custGeom>
              <a:avLst/>
              <a:gdLst/>
              <a:ahLst/>
              <a:cxnLst/>
              <a:rect l="l" t="t" r="r" b="b"/>
              <a:pathLst>
                <a:path w="10693146" h="9903714">
                  <a:moveTo>
                    <a:pt x="0" y="137414"/>
                  </a:moveTo>
                  <a:cubicBezTo>
                    <a:pt x="0" y="61595"/>
                    <a:pt x="61595" y="0"/>
                    <a:pt x="137414" y="0"/>
                  </a:cubicBezTo>
                  <a:lnTo>
                    <a:pt x="10555732" y="0"/>
                  </a:lnTo>
                  <a:cubicBezTo>
                    <a:pt x="10631677" y="0"/>
                    <a:pt x="10693146" y="61595"/>
                    <a:pt x="10693146" y="137414"/>
                  </a:cubicBezTo>
                  <a:lnTo>
                    <a:pt x="10693146" y="9766300"/>
                  </a:lnTo>
                  <a:cubicBezTo>
                    <a:pt x="10693146" y="9842246"/>
                    <a:pt x="10631550" y="9903714"/>
                    <a:pt x="10555732" y="9903714"/>
                  </a:cubicBezTo>
                  <a:lnTo>
                    <a:pt x="137414" y="9903714"/>
                  </a:lnTo>
                  <a:cubicBezTo>
                    <a:pt x="61595" y="9903841"/>
                    <a:pt x="0" y="9842246"/>
                    <a:pt x="0" y="9766300"/>
                  </a:cubicBezTo>
                  <a:close/>
                </a:path>
              </a:pathLst>
            </a:custGeom>
            <a:solidFill>
              <a:srgbClr val="EBF1F7"/>
            </a:solidFill>
            <a:ln w="19050" cap="sq">
              <a:solidFill>
                <a:srgbClr val="8BA4BF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323946" y="2373363"/>
            <a:ext cx="714356" cy="714375"/>
            <a:chOff x="0" y="0"/>
            <a:chExt cx="952475" cy="95250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323946" y="3501171"/>
            <a:ext cx="7200719" cy="580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4350" b="1" spc="-64">
                <a:solidFill>
                  <a:srgbClr val="1A2E4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Problem Statement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3946" y="4344591"/>
            <a:ext cx="7200719" cy="280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number of satellites and space debris in Low Earth Orbit (LEO) is increasing.</a:t>
            </a:r>
          </a:p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More objects in orbit make space traffic harder to monitor and increase the possibility of collisions.</a:t>
            </a:r>
          </a:p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Finding unusual satellite behaviour across a large catalogue is difficult to do manually.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372362" y="1963788"/>
            <a:ext cx="8019850" cy="7427862"/>
            <a:chOff x="0" y="0"/>
            <a:chExt cx="10693133" cy="990381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93146" cy="9903714"/>
            </a:xfrm>
            <a:custGeom>
              <a:avLst/>
              <a:gdLst/>
              <a:ahLst/>
              <a:cxnLst/>
              <a:rect l="l" t="t" r="r" b="b"/>
              <a:pathLst>
                <a:path w="10693146" h="9903714">
                  <a:moveTo>
                    <a:pt x="0" y="137414"/>
                  </a:moveTo>
                  <a:cubicBezTo>
                    <a:pt x="0" y="61595"/>
                    <a:pt x="61595" y="0"/>
                    <a:pt x="137414" y="0"/>
                  </a:cubicBezTo>
                  <a:lnTo>
                    <a:pt x="10555732" y="0"/>
                  </a:lnTo>
                  <a:cubicBezTo>
                    <a:pt x="10631677" y="0"/>
                    <a:pt x="10693146" y="61595"/>
                    <a:pt x="10693146" y="137414"/>
                  </a:cubicBezTo>
                  <a:lnTo>
                    <a:pt x="10693146" y="9766300"/>
                  </a:lnTo>
                  <a:cubicBezTo>
                    <a:pt x="10693146" y="9842246"/>
                    <a:pt x="10631550" y="9903714"/>
                    <a:pt x="10555732" y="9903714"/>
                  </a:cubicBezTo>
                  <a:lnTo>
                    <a:pt x="137414" y="9903714"/>
                  </a:lnTo>
                  <a:cubicBezTo>
                    <a:pt x="61595" y="9903841"/>
                    <a:pt x="0" y="9842246"/>
                    <a:pt x="0" y="9766300"/>
                  </a:cubicBezTo>
                  <a:close/>
                </a:path>
              </a:pathLst>
            </a:custGeom>
            <a:solidFill>
              <a:srgbClr val="EBF1F7"/>
            </a:solidFill>
            <a:ln w="19050" cap="sq">
              <a:solidFill>
                <a:srgbClr val="8BA4BF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9781927" y="2373363"/>
            <a:ext cx="714356" cy="714375"/>
            <a:chOff x="0" y="0"/>
            <a:chExt cx="952475" cy="95250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1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9781927" y="3501171"/>
            <a:ext cx="7200719" cy="580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4350" b="1" spc="-64">
                <a:solidFill>
                  <a:srgbClr val="1A2E4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Objectives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81927" y="4344591"/>
            <a:ext cx="7200719" cy="3328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Analyse satellite orbital data from CelesTrak.</a:t>
            </a:r>
          </a:p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 Machine Learning to find satellites with unusual orbital features.</a:t>
            </a:r>
          </a:p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 Discrete Mathematics to find unusual relationships between satellites.</a:t>
            </a:r>
          </a:p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Combine both results to flag satellites for further inspection.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23906" y="1011850"/>
            <a:ext cx="16458790" cy="644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4800" b="1" spc="-72">
                <a:solidFill>
                  <a:srgbClr val="1A2E4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Existing System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14381" y="1963788"/>
            <a:ext cx="8019850" cy="7427862"/>
            <a:chOff x="0" y="0"/>
            <a:chExt cx="10693133" cy="99038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693146" cy="9903714"/>
            </a:xfrm>
            <a:custGeom>
              <a:avLst/>
              <a:gdLst/>
              <a:ahLst/>
              <a:cxnLst/>
              <a:rect l="l" t="t" r="r" b="b"/>
              <a:pathLst>
                <a:path w="10693146" h="9903714">
                  <a:moveTo>
                    <a:pt x="0" y="137414"/>
                  </a:moveTo>
                  <a:cubicBezTo>
                    <a:pt x="0" y="61595"/>
                    <a:pt x="61595" y="0"/>
                    <a:pt x="137414" y="0"/>
                  </a:cubicBezTo>
                  <a:lnTo>
                    <a:pt x="10555732" y="0"/>
                  </a:lnTo>
                  <a:cubicBezTo>
                    <a:pt x="10631677" y="0"/>
                    <a:pt x="10693146" y="61595"/>
                    <a:pt x="10693146" y="137414"/>
                  </a:cubicBezTo>
                  <a:lnTo>
                    <a:pt x="10693146" y="9766300"/>
                  </a:lnTo>
                  <a:cubicBezTo>
                    <a:pt x="10693146" y="9842246"/>
                    <a:pt x="10631550" y="9903714"/>
                    <a:pt x="10555732" y="9903714"/>
                  </a:cubicBezTo>
                  <a:lnTo>
                    <a:pt x="137414" y="9903714"/>
                  </a:lnTo>
                  <a:cubicBezTo>
                    <a:pt x="61595" y="9903841"/>
                    <a:pt x="0" y="9842246"/>
                    <a:pt x="0" y="9766300"/>
                  </a:cubicBezTo>
                  <a:close/>
                </a:path>
              </a:pathLst>
            </a:custGeom>
            <a:solidFill>
              <a:srgbClr val="EBF1F7"/>
            </a:solidFill>
            <a:ln w="19050" cap="sq">
              <a:solidFill>
                <a:srgbClr val="8BA4BF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400137" y="2430513"/>
            <a:ext cx="714356" cy="714375"/>
            <a:chOff x="0" y="0"/>
            <a:chExt cx="952475" cy="95250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400137" y="3558321"/>
            <a:ext cx="7048319" cy="580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4350" b="1" spc="-64">
                <a:solidFill>
                  <a:srgbClr val="1A2E4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Existing Approach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00137" y="4401741"/>
            <a:ext cx="7048319" cy="340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Satellite tracking systems use orbital data to monitor satellite positions and movements.</a:t>
            </a:r>
          </a:p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Collision assessment systems use orbital information to estimate potential close approaches.</a:t>
            </a:r>
          </a:p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These tasks differ from identifying unusual patterns across a satellite catalog.</a:t>
            </a:r>
          </a:p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It’s expensive to perform an orbital maneuver after a collision probability is detected.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372362" y="1963788"/>
            <a:ext cx="8019850" cy="7427862"/>
            <a:chOff x="0" y="0"/>
            <a:chExt cx="10693133" cy="990381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93146" cy="9903714"/>
            </a:xfrm>
            <a:custGeom>
              <a:avLst/>
              <a:gdLst/>
              <a:ahLst/>
              <a:cxnLst/>
              <a:rect l="l" t="t" r="r" b="b"/>
              <a:pathLst>
                <a:path w="10693146" h="9903714">
                  <a:moveTo>
                    <a:pt x="0" y="137414"/>
                  </a:moveTo>
                  <a:cubicBezTo>
                    <a:pt x="0" y="61595"/>
                    <a:pt x="61595" y="0"/>
                    <a:pt x="137414" y="0"/>
                  </a:cubicBezTo>
                  <a:lnTo>
                    <a:pt x="10555732" y="0"/>
                  </a:lnTo>
                  <a:cubicBezTo>
                    <a:pt x="10631677" y="0"/>
                    <a:pt x="10693146" y="61595"/>
                    <a:pt x="10693146" y="137414"/>
                  </a:cubicBezTo>
                  <a:lnTo>
                    <a:pt x="10693146" y="9766300"/>
                  </a:lnTo>
                  <a:cubicBezTo>
                    <a:pt x="10693146" y="9842246"/>
                    <a:pt x="10631550" y="9903714"/>
                    <a:pt x="10555732" y="9903714"/>
                  </a:cubicBezTo>
                  <a:lnTo>
                    <a:pt x="137414" y="9903714"/>
                  </a:lnTo>
                  <a:cubicBezTo>
                    <a:pt x="61595" y="9903841"/>
                    <a:pt x="0" y="9842246"/>
                    <a:pt x="0" y="9766300"/>
                  </a:cubicBezTo>
                  <a:close/>
                </a:path>
              </a:pathLst>
            </a:custGeom>
            <a:solidFill>
              <a:srgbClr val="EBF1F7"/>
            </a:solidFill>
            <a:ln w="19050" cap="sq">
              <a:solidFill>
                <a:srgbClr val="8BA4BF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9957771" y="3558321"/>
            <a:ext cx="7048319" cy="580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4350" b="1" spc="-64">
                <a:solidFill>
                  <a:srgbClr val="1A2E4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Our Project's Focus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58127" y="4401741"/>
            <a:ext cx="7048319" cy="340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Examine unusual orbital features and relationships between satellites.</a:t>
            </a:r>
          </a:p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Combine ML and DM results to identify satellites flagged by one or both methods, rather than relying on a single method</a:t>
            </a:r>
          </a:p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Provide a dashboard where users can search individual satellites, inspect their results, and understand why they were flagged.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23906" y="1011850"/>
            <a:ext cx="16458790" cy="644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4800" b="1" spc="-72">
                <a:solidFill>
                  <a:srgbClr val="1A2E4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Proposed System Workflow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04800" y="2171700"/>
            <a:ext cx="16458790" cy="6242418"/>
            <a:chOff x="0" y="0"/>
            <a:chExt cx="21487867" cy="7668616"/>
          </a:xfrm>
        </p:grpSpPr>
        <p:sp>
          <p:nvSpPr>
            <p:cNvPr id="6" name="Freeform 6" descr="preencoded.png"/>
            <p:cNvSpPr/>
            <p:nvPr/>
          </p:nvSpPr>
          <p:spPr>
            <a:xfrm>
              <a:off x="0" y="0"/>
              <a:ext cx="21487892" cy="7668641"/>
            </a:xfrm>
            <a:custGeom>
              <a:avLst/>
              <a:gdLst/>
              <a:ahLst/>
              <a:cxnLst/>
              <a:rect l="l" t="t" r="r" b="b"/>
              <a:pathLst>
                <a:path w="21487892" h="7668641">
                  <a:moveTo>
                    <a:pt x="0" y="0"/>
                  </a:moveTo>
                  <a:lnTo>
                    <a:pt x="21487892" y="0"/>
                  </a:lnTo>
                  <a:lnTo>
                    <a:pt x="21487892" y="7668641"/>
                  </a:lnTo>
                  <a:lnTo>
                    <a:pt x="0" y="7668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4" b="-54"/>
              </a:stretch>
            </a:blipFill>
          </p:spPr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2CEABDF-82C9-9382-703F-4EC45873DF94}"/>
              </a:ext>
            </a:extLst>
          </p:cNvPr>
          <p:cNvSpPr txBox="1"/>
          <p:nvPr/>
        </p:nvSpPr>
        <p:spPr>
          <a:xfrm>
            <a:off x="3962204" y="8811611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Source Sans 3" panose="020B0604020202020204" charset="0"/>
              </a:rPr>
              <a:t>Diagram 1: System workflow</a:t>
            </a:r>
            <a:endParaRPr lang="en-IN" sz="2400" b="1" dirty="0">
              <a:latin typeface="Source Sans 3" panose="020B0604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23906" y="1011850"/>
            <a:ext cx="16458790" cy="644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4800" b="1" spc="-72">
                <a:solidFill>
                  <a:srgbClr val="1A2E4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Machine Learning Analysis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14381" y="3901383"/>
            <a:ext cx="5200517" cy="3186112"/>
            <a:chOff x="0" y="0"/>
            <a:chExt cx="6934022" cy="42481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33946" cy="4248150"/>
            </a:xfrm>
            <a:custGeom>
              <a:avLst/>
              <a:gdLst/>
              <a:ahLst/>
              <a:cxnLst/>
              <a:rect l="l" t="t" r="r" b="b"/>
              <a:pathLst>
                <a:path w="6933946" h="4248150">
                  <a:moveTo>
                    <a:pt x="0" y="137922"/>
                  </a:moveTo>
                  <a:cubicBezTo>
                    <a:pt x="0" y="61722"/>
                    <a:pt x="61722" y="0"/>
                    <a:pt x="137922" y="0"/>
                  </a:cubicBezTo>
                  <a:lnTo>
                    <a:pt x="6796024" y="0"/>
                  </a:lnTo>
                  <a:cubicBezTo>
                    <a:pt x="6872224" y="0"/>
                    <a:pt x="6933946" y="61722"/>
                    <a:pt x="6933946" y="137922"/>
                  </a:cubicBezTo>
                  <a:lnTo>
                    <a:pt x="6933946" y="4110228"/>
                  </a:lnTo>
                  <a:cubicBezTo>
                    <a:pt x="6933946" y="4186428"/>
                    <a:pt x="6872224" y="4248150"/>
                    <a:pt x="6796024" y="4248150"/>
                  </a:cubicBezTo>
                  <a:lnTo>
                    <a:pt x="137922" y="4248150"/>
                  </a:lnTo>
                  <a:cubicBezTo>
                    <a:pt x="61722" y="4248150"/>
                    <a:pt x="0" y="4186428"/>
                    <a:pt x="0" y="4110228"/>
                  </a:cubicBezTo>
                  <a:close/>
                </a:path>
              </a:pathLst>
            </a:custGeom>
            <a:solidFill>
              <a:srgbClr val="EBF1F7"/>
            </a:solidFill>
            <a:ln w="19050" cap="sq">
              <a:solidFill>
                <a:srgbClr val="8BA4BF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400137" y="4387158"/>
            <a:ext cx="714356" cy="714375"/>
            <a:chOff x="0" y="0"/>
            <a:chExt cx="952475" cy="95250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400137" y="5258695"/>
            <a:ext cx="4228995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 b="1">
                <a:solidFill>
                  <a:srgbClr val="2B3B5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K-Means:</a:t>
            </a: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 Groups satellites with similar semi-major axis, eccentricity, and inclination.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553038" y="3901383"/>
            <a:ext cx="5200517" cy="3186112"/>
            <a:chOff x="0" y="0"/>
            <a:chExt cx="6934022" cy="42481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33946" cy="4248150"/>
            </a:xfrm>
            <a:custGeom>
              <a:avLst/>
              <a:gdLst/>
              <a:ahLst/>
              <a:cxnLst/>
              <a:rect l="l" t="t" r="r" b="b"/>
              <a:pathLst>
                <a:path w="6933946" h="4248150">
                  <a:moveTo>
                    <a:pt x="0" y="137922"/>
                  </a:moveTo>
                  <a:cubicBezTo>
                    <a:pt x="0" y="61722"/>
                    <a:pt x="61722" y="0"/>
                    <a:pt x="137922" y="0"/>
                  </a:cubicBezTo>
                  <a:lnTo>
                    <a:pt x="6796024" y="0"/>
                  </a:lnTo>
                  <a:cubicBezTo>
                    <a:pt x="6872224" y="0"/>
                    <a:pt x="6933946" y="61722"/>
                    <a:pt x="6933946" y="137922"/>
                  </a:cubicBezTo>
                  <a:lnTo>
                    <a:pt x="6933946" y="4110228"/>
                  </a:lnTo>
                  <a:cubicBezTo>
                    <a:pt x="6933946" y="4186428"/>
                    <a:pt x="6872224" y="4248150"/>
                    <a:pt x="6796024" y="4248150"/>
                  </a:cubicBezTo>
                  <a:lnTo>
                    <a:pt x="137922" y="4248150"/>
                  </a:lnTo>
                  <a:cubicBezTo>
                    <a:pt x="61722" y="4248150"/>
                    <a:pt x="0" y="4186428"/>
                    <a:pt x="0" y="4110228"/>
                  </a:cubicBezTo>
                  <a:close/>
                </a:path>
              </a:pathLst>
            </a:custGeom>
            <a:solidFill>
              <a:srgbClr val="EBF1F7"/>
            </a:solidFill>
            <a:ln w="19050" cap="sq">
              <a:solidFill>
                <a:srgbClr val="8BA4BF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038804" y="4387158"/>
            <a:ext cx="714356" cy="714375"/>
            <a:chOff x="0" y="0"/>
            <a:chExt cx="952475" cy="95250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1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7038804" y="5258695"/>
            <a:ext cx="4228995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 b="1">
                <a:solidFill>
                  <a:srgbClr val="2B3B5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Isolation Forest:</a:t>
            </a: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 Identifies satellites that appear unusual within their group.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191695" y="3901383"/>
            <a:ext cx="5200517" cy="3186112"/>
            <a:chOff x="0" y="0"/>
            <a:chExt cx="6934022" cy="42481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33946" cy="4248150"/>
            </a:xfrm>
            <a:custGeom>
              <a:avLst/>
              <a:gdLst/>
              <a:ahLst/>
              <a:cxnLst/>
              <a:rect l="l" t="t" r="r" b="b"/>
              <a:pathLst>
                <a:path w="6933946" h="4248150">
                  <a:moveTo>
                    <a:pt x="0" y="137922"/>
                  </a:moveTo>
                  <a:cubicBezTo>
                    <a:pt x="0" y="61722"/>
                    <a:pt x="61722" y="0"/>
                    <a:pt x="137922" y="0"/>
                  </a:cubicBezTo>
                  <a:lnTo>
                    <a:pt x="6796024" y="0"/>
                  </a:lnTo>
                  <a:cubicBezTo>
                    <a:pt x="6872224" y="0"/>
                    <a:pt x="6933946" y="61722"/>
                    <a:pt x="6933946" y="137922"/>
                  </a:cubicBezTo>
                  <a:lnTo>
                    <a:pt x="6933946" y="4110228"/>
                  </a:lnTo>
                  <a:cubicBezTo>
                    <a:pt x="6933946" y="4186428"/>
                    <a:pt x="6872224" y="4248150"/>
                    <a:pt x="6796024" y="4248150"/>
                  </a:cubicBezTo>
                  <a:lnTo>
                    <a:pt x="137922" y="4248150"/>
                  </a:lnTo>
                  <a:cubicBezTo>
                    <a:pt x="61722" y="4248150"/>
                    <a:pt x="0" y="4186428"/>
                    <a:pt x="0" y="4110228"/>
                  </a:cubicBezTo>
                  <a:close/>
                </a:path>
              </a:pathLst>
            </a:custGeom>
            <a:solidFill>
              <a:srgbClr val="EBF1F7"/>
            </a:solidFill>
            <a:ln w="19050" cap="sq">
              <a:solidFill>
                <a:srgbClr val="8BA4BF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2677461" y="4387158"/>
            <a:ext cx="714356" cy="714375"/>
            <a:chOff x="0" y="0"/>
            <a:chExt cx="952475" cy="952500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1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12677461" y="5258695"/>
            <a:ext cx="4228995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 b="1">
                <a:solidFill>
                  <a:srgbClr val="2B3B5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ML Flag:</a:t>
            </a: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 Indicates whether the ML detector identified a satellite as unusual.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62" y="-4762"/>
            <a:ext cx="18297068" cy="10296525"/>
            <a:chOff x="0" y="0"/>
            <a:chExt cx="24396090" cy="13728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064" cy="13728700"/>
            </a:xfrm>
            <a:custGeom>
              <a:avLst/>
              <a:gdLst/>
              <a:ahLst/>
              <a:cxnLst/>
              <a:rect l="l" t="t" r="r" b="b"/>
              <a:pathLst>
                <a:path w="24396064" h="13728700">
                  <a:moveTo>
                    <a:pt x="0" y="0"/>
                  </a:moveTo>
                  <a:lnTo>
                    <a:pt x="24396064" y="0"/>
                  </a:lnTo>
                  <a:lnTo>
                    <a:pt x="24396064" y="13728700"/>
                  </a:lnTo>
                  <a:lnTo>
                    <a:pt x="0" y="13728700"/>
                  </a:lnTo>
                  <a:close/>
                </a:path>
              </a:pathLst>
            </a:custGeom>
            <a:solidFill>
              <a:srgbClr val="F4F6F9"/>
            </a:solidFill>
            <a:ln w="9525" cap="sq">
              <a:solidFill>
                <a:srgbClr val="8B2635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923906" y="1011850"/>
            <a:ext cx="16458790" cy="644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4800" b="1" spc="-72">
                <a:solidFill>
                  <a:srgbClr val="1A2E4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Discrete Mathematics: Orbital Similarity Graph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14381" y="1963788"/>
            <a:ext cx="8134150" cy="1876425"/>
            <a:chOff x="0" y="0"/>
            <a:chExt cx="10845533" cy="25019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45546" cy="2501900"/>
            </a:xfrm>
            <a:custGeom>
              <a:avLst/>
              <a:gdLst/>
              <a:ahLst/>
              <a:cxnLst/>
              <a:rect l="l" t="t" r="r" b="b"/>
              <a:pathLst>
                <a:path w="10845546" h="2501900">
                  <a:moveTo>
                    <a:pt x="0" y="138557"/>
                  </a:moveTo>
                  <a:cubicBezTo>
                    <a:pt x="0" y="61976"/>
                    <a:pt x="61976" y="0"/>
                    <a:pt x="138557" y="0"/>
                  </a:cubicBezTo>
                  <a:lnTo>
                    <a:pt x="10706989" y="0"/>
                  </a:lnTo>
                  <a:cubicBezTo>
                    <a:pt x="10783570" y="0"/>
                    <a:pt x="10845546" y="61976"/>
                    <a:pt x="10845546" y="138557"/>
                  </a:cubicBezTo>
                  <a:lnTo>
                    <a:pt x="10845546" y="2363343"/>
                  </a:lnTo>
                  <a:cubicBezTo>
                    <a:pt x="10845546" y="2439924"/>
                    <a:pt x="10783570" y="2501900"/>
                    <a:pt x="10706989" y="2501900"/>
                  </a:cubicBezTo>
                  <a:lnTo>
                    <a:pt x="138557" y="2501900"/>
                  </a:lnTo>
                  <a:cubicBezTo>
                    <a:pt x="61976" y="2501900"/>
                    <a:pt x="0" y="2439924"/>
                    <a:pt x="0" y="2363343"/>
                  </a:cubicBezTo>
                  <a:close/>
                </a:path>
              </a:pathLst>
            </a:custGeom>
            <a:solidFill>
              <a:srgbClr val="EBF1F7"/>
            </a:solidFill>
            <a:ln w="19050" cap="sq">
              <a:solidFill>
                <a:srgbClr val="8BA4BF"/>
              </a:solidFill>
              <a:prstDash val="solid"/>
              <a:miter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209646" y="2201913"/>
            <a:ext cx="7543610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 b="1">
                <a:solidFill>
                  <a:srgbClr val="2B3B5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Vertices and edges:</a:t>
            </a: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 Each satellite is a vertex; directed edges connect it to its five nearest orbital-feature neighbours.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258071" y="1963788"/>
            <a:ext cx="8134150" cy="1876425"/>
            <a:chOff x="0" y="0"/>
            <a:chExt cx="10845533" cy="2501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845546" cy="2501900"/>
            </a:xfrm>
            <a:custGeom>
              <a:avLst/>
              <a:gdLst/>
              <a:ahLst/>
              <a:cxnLst/>
              <a:rect l="l" t="t" r="r" b="b"/>
              <a:pathLst>
                <a:path w="10845546" h="2501900">
                  <a:moveTo>
                    <a:pt x="0" y="138557"/>
                  </a:moveTo>
                  <a:cubicBezTo>
                    <a:pt x="0" y="61976"/>
                    <a:pt x="61976" y="0"/>
                    <a:pt x="138557" y="0"/>
                  </a:cubicBezTo>
                  <a:lnTo>
                    <a:pt x="10706989" y="0"/>
                  </a:lnTo>
                  <a:cubicBezTo>
                    <a:pt x="10783570" y="0"/>
                    <a:pt x="10845546" y="61976"/>
                    <a:pt x="10845546" y="138557"/>
                  </a:cubicBezTo>
                  <a:lnTo>
                    <a:pt x="10845546" y="2363343"/>
                  </a:lnTo>
                  <a:cubicBezTo>
                    <a:pt x="10845546" y="2439924"/>
                    <a:pt x="10783570" y="2501900"/>
                    <a:pt x="10706989" y="2501900"/>
                  </a:cubicBezTo>
                  <a:lnTo>
                    <a:pt x="138557" y="2501900"/>
                  </a:lnTo>
                  <a:cubicBezTo>
                    <a:pt x="61976" y="2501900"/>
                    <a:pt x="0" y="2439924"/>
                    <a:pt x="0" y="2363343"/>
                  </a:cubicBezTo>
                  <a:close/>
                </a:path>
              </a:pathLst>
            </a:custGeom>
            <a:solidFill>
              <a:srgbClr val="EBF1F7"/>
            </a:solidFill>
            <a:ln w="19050" cap="sq">
              <a:solidFill>
                <a:srgbClr val="8BA4BF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9553337" y="2201913"/>
            <a:ext cx="754361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 b="1">
                <a:solidFill>
                  <a:srgbClr val="2B3B5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Directed graph:</a:t>
            </a: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 A connection from satellite A to B does not require a reverse connection from B to A.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14381" y="4049611"/>
            <a:ext cx="8134150" cy="1876425"/>
            <a:chOff x="0" y="0"/>
            <a:chExt cx="10845533" cy="25019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845546" cy="2501900"/>
            </a:xfrm>
            <a:custGeom>
              <a:avLst/>
              <a:gdLst/>
              <a:ahLst/>
              <a:cxnLst/>
              <a:rect l="l" t="t" r="r" b="b"/>
              <a:pathLst>
                <a:path w="10845546" h="2501900">
                  <a:moveTo>
                    <a:pt x="0" y="138557"/>
                  </a:moveTo>
                  <a:cubicBezTo>
                    <a:pt x="0" y="61976"/>
                    <a:pt x="61976" y="0"/>
                    <a:pt x="138557" y="0"/>
                  </a:cubicBezTo>
                  <a:lnTo>
                    <a:pt x="10706989" y="0"/>
                  </a:lnTo>
                  <a:cubicBezTo>
                    <a:pt x="10783570" y="0"/>
                    <a:pt x="10845546" y="61976"/>
                    <a:pt x="10845546" y="138557"/>
                  </a:cubicBezTo>
                  <a:lnTo>
                    <a:pt x="10845546" y="2363343"/>
                  </a:lnTo>
                  <a:cubicBezTo>
                    <a:pt x="10845546" y="2439924"/>
                    <a:pt x="10783570" y="2501900"/>
                    <a:pt x="10706989" y="2501900"/>
                  </a:cubicBezTo>
                  <a:lnTo>
                    <a:pt x="138557" y="2501900"/>
                  </a:lnTo>
                  <a:cubicBezTo>
                    <a:pt x="61976" y="2501900"/>
                    <a:pt x="0" y="2439924"/>
                    <a:pt x="0" y="2363343"/>
                  </a:cubicBezTo>
                  <a:close/>
                </a:path>
              </a:pathLst>
            </a:custGeom>
            <a:solidFill>
              <a:srgbClr val="EBF1F7"/>
            </a:solidFill>
            <a:ln w="19050" cap="sq">
              <a:solidFill>
                <a:srgbClr val="8BA4BF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209646" y="4287736"/>
            <a:ext cx="7543610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 b="1" dirty="0">
                <a:solidFill>
                  <a:srgbClr val="2B3B5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Similarity relation:</a:t>
            </a:r>
            <a:r>
              <a:rPr lang="en-US" sz="2250" dirty="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 Connections use distance between standardized orbital features, not physical distance in space.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258071" y="4049611"/>
            <a:ext cx="8134150" cy="1876425"/>
            <a:chOff x="0" y="0"/>
            <a:chExt cx="10845533" cy="25019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845546" cy="2501900"/>
            </a:xfrm>
            <a:custGeom>
              <a:avLst/>
              <a:gdLst/>
              <a:ahLst/>
              <a:cxnLst/>
              <a:rect l="l" t="t" r="r" b="b"/>
              <a:pathLst>
                <a:path w="10845546" h="2501900">
                  <a:moveTo>
                    <a:pt x="0" y="138557"/>
                  </a:moveTo>
                  <a:cubicBezTo>
                    <a:pt x="0" y="61976"/>
                    <a:pt x="61976" y="0"/>
                    <a:pt x="138557" y="0"/>
                  </a:cubicBezTo>
                  <a:lnTo>
                    <a:pt x="10706989" y="0"/>
                  </a:lnTo>
                  <a:cubicBezTo>
                    <a:pt x="10783570" y="0"/>
                    <a:pt x="10845546" y="61976"/>
                    <a:pt x="10845546" y="138557"/>
                  </a:cubicBezTo>
                  <a:lnTo>
                    <a:pt x="10845546" y="2363343"/>
                  </a:lnTo>
                  <a:cubicBezTo>
                    <a:pt x="10845546" y="2439924"/>
                    <a:pt x="10783570" y="2501900"/>
                    <a:pt x="10706989" y="2501900"/>
                  </a:cubicBezTo>
                  <a:lnTo>
                    <a:pt x="138557" y="2501900"/>
                  </a:lnTo>
                  <a:cubicBezTo>
                    <a:pt x="61976" y="2501900"/>
                    <a:pt x="0" y="2439924"/>
                    <a:pt x="0" y="2363343"/>
                  </a:cubicBezTo>
                  <a:close/>
                </a:path>
              </a:pathLst>
            </a:custGeom>
            <a:solidFill>
              <a:srgbClr val="EBF1F7"/>
            </a:solidFill>
            <a:ln w="19050" cap="sq">
              <a:solidFill>
                <a:srgbClr val="8BA4BF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9553337" y="4287736"/>
            <a:ext cx="754361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 b="1">
                <a:solidFill>
                  <a:srgbClr val="2B3B5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In-degree:</a:t>
            </a: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 Counts how many other satellites point to a given satellite.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14381" y="6135443"/>
            <a:ext cx="16477840" cy="1019175"/>
            <a:chOff x="0" y="0"/>
            <a:chExt cx="21970454" cy="13589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970364" cy="1358900"/>
            </a:xfrm>
            <a:custGeom>
              <a:avLst/>
              <a:gdLst/>
              <a:ahLst/>
              <a:cxnLst/>
              <a:rect l="l" t="t" r="r" b="b"/>
              <a:pathLst>
                <a:path w="21970364" h="1358900">
                  <a:moveTo>
                    <a:pt x="0" y="139700"/>
                  </a:moveTo>
                  <a:cubicBezTo>
                    <a:pt x="0" y="62611"/>
                    <a:pt x="62611" y="0"/>
                    <a:pt x="139700" y="0"/>
                  </a:cubicBezTo>
                  <a:lnTo>
                    <a:pt x="21830664" y="0"/>
                  </a:lnTo>
                  <a:cubicBezTo>
                    <a:pt x="21907880" y="0"/>
                    <a:pt x="21970364" y="62611"/>
                    <a:pt x="21970364" y="139700"/>
                  </a:cubicBezTo>
                  <a:lnTo>
                    <a:pt x="21970364" y="1219200"/>
                  </a:lnTo>
                  <a:cubicBezTo>
                    <a:pt x="21970364" y="1296416"/>
                    <a:pt x="21907754" y="1358900"/>
                    <a:pt x="21830664" y="1358900"/>
                  </a:cubicBezTo>
                  <a:lnTo>
                    <a:pt x="139700" y="1358900"/>
                  </a:lnTo>
                  <a:cubicBezTo>
                    <a:pt x="62484" y="1358900"/>
                    <a:pt x="0" y="1296289"/>
                    <a:pt x="0" y="1219200"/>
                  </a:cubicBezTo>
                  <a:close/>
                </a:path>
              </a:pathLst>
            </a:custGeom>
            <a:solidFill>
              <a:srgbClr val="EBF1F7"/>
            </a:solidFill>
            <a:ln w="19050" cap="sq">
              <a:solidFill>
                <a:srgbClr val="8BA4BF"/>
              </a:solidFill>
              <a:prstDash val="solid"/>
              <a:miter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209646" y="6373568"/>
            <a:ext cx="1617304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 b="1">
                <a:solidFill>
                  <a:srgbClr val="2B3B5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DM Flag:</a:t>
            </a: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 Flag when in-degree is zero and average distance to the five nearest neighbours is greater than the dataset-wide average.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3906" y="7416556"/>
            <a:ext cx="17373162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endParaRPr/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Directed k-NN graph with a relation that is not necessarily symmetric or transitive.</a:t>
            </a:r>
          </a:p>
          <a:p>
            <a:pPr algn="l">
              <a:lnSpc>
                <a:spcPts val="3375"/>
              </a:lnSpc>
            </a:pPr>
            <a:endParaRPr lang="en-US" sz="2250">
              <a:solidFill>
                <a:srgbClr val="2B3B5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923906" y="1011850"/>
            <a:ext cx="16458790" cy="644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4800" b="1" spc="-72">
                <a:solidFill>
                  <a:srgbClr val="1A2E4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Results and Prototype Application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B2E1FFE-2EA8-38EE-789C-8386331B4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995465"/>
            <a:ext cx="12725400" cy="664602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217524F-95B7-F6E7-DD81-1028C9F0E30B}"/>
              </a:ext>
            </a:extLst>
          </p:cNvPr>
          <p:cNvSpPr txBox="1"/>
          <p:nvPr/>
        </p:nvSpPr>
        <p:spPr>
          <a:xfrm>
            <a:off x="5334000" y="8983647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Source Sans 3" panose="020B0604020202020204" charset="0"/>
              </a:rPr>
              <a:t>Diagram 2: Satellite analysis overview</a:t>
            </a:r>
            <a:endParaRPr lang="en-IN" sz="2400" b="1" dirty="0">
              <a:latin typeface="Source Sans 3" panose="020B0604020202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BB167-125A-0AD8-4ED3-5039EBD5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6D4C8044-6406-4428-D737-7C9C6DB2BAE7}"/>
              </a:ext>
            </a:extLst>
          </p:cNvPr>
          <p:cNvSpPr txBox="1"/>
          <p:nvPr/>
        </p:nvSpPr>
        <p:spPr>
          <a:xfrm>
            <a:off x="923906" y="1011850"/>
            <a:ext cx="16458790" cy="644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4800" b="1" spc="-72">
                <a:solidFill>
                  <a:srgbClr val="1A2E4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Results and Prototype Application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11E610-463A-70DC-4B40-A78A7186F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2171700"/>
            <a:ext cx="12307224" cy="6477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4DBD68-0E1C-549A-B974-163C016B1C25}"/>
              </a:ext>
            </a:extLst>
          </p:cNvPr>
          <p:cNvSpPr txBox="1"/>
          <p:nvPr/>
        </p:nvSpPr>
        <p:spPr>
          <a:xfrm>
            <a:off x="4038600" y="9044317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Source Sans 3" panose="020B0604020202020204" charset="0"/>
              </a:rPr>
              <a:t>Diagram 3: Graph based analysis</a:t>
            </a:r>
            <a:endParaRPr lang="en-IN" sz="2400" b="1" dirty="0">
              <a:latin typeface="Source Sans 3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628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23906" y="1011850"/>
            <a:ext cx="16458790" cy="644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6"/>
              </a:lnSpc>
            </a:pPr>
            <a:r>
              <a:rPr lang="en-US" sz="4800" b="1" spc="-72">
                <a:solidFill>
                  <a:srgbClr val="1A2E4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Limitations and Future Scope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85800" y="1963788"/>
            <a:ext cx="8019850" cy="7427862"/>
            <a:chOff x="0" y="0"/>
            <a:chExt cx="10693133" cy="99038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693146" cy="9903714"/>
            </a:xfrm>
            <a:custGeom>
              <a:avLst/>
              <a:gdLst/>
              <a:ahLst/>
              <a:cxnLst/>
              <a:rect l="l" t="t" r="r" b="b"/>
              <a:pathLst>
                <a:path w="10693146" h="9903714">
                  <a:moveTo>
                    <a:pt x="0" y="137414"/>
                  </a:moveTo>
                  <a:cubicBezTo>
                    <a:pt x="0" y="61595"/>
                    <a:pt x="61595" y="0"/>
                    <a:pt x="137414" y="0"/>
                  </a:cubicBezTo>
                  <a:lnTo>
                    <a:pt x="10555732" y="0"/>
                  </a:lnTo>
                  <a:cubicBezTo>
                    <a:pt x="10631677" y="0"/>
                    <a:pt x="10693146" y="61595"/>
                    <a:pt x="10693146" y="137414"/>
                  </a:cubicBezTo>
                  <a:lnTo>
                    <a:pt x="10693146" y="9766300"/>
                  </a:lnTo>
                  <a:cubicBezTo>
                    <a:pt x="10693146" y="9842246"/>
                    <a:pt x="10631550" y="9903714"/>
                    <a:pt x="10555732" y="9903714"/>
                  </a:cubicBezTo>
                  <a:lnTo>
                    <a:pt x="137414" y="9903714"/>
                  </a:lnTo>
                  <a:cubicBezTo>
                    <a:pt x="61595" y="9903841"/>
                    <a:pt x="0" y="9842246"/>
                    <a:pt x="0" y="9766300"/>
                  </a:cubicBezTo>
                  <a:close/>
                </a:path>
              </a:pathLst>
            </a:custGeom>
            <a:solidFill>
              <a:srgbClr val="EBF1F7"/>
            </a:solidFill>
            <a:ln w="19050" cap="sq">
              <a:solidFill>
                <a:srgbClr val="8BA4BF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323946" y="2515866"/>
            <a:ext cx="714356" cy="714375"/>
            <a:chOff x="0" y="0"/>
            <a:chExt cx="952475" cy="95250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323946" y="3643674"/>
            <a:ext cx="7200719" cy="580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4350" b="1" spc="-64">
                <a:solidFill>
                  <a:srgbClr val="1A2E4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Limitations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3946" y="4487094"/>
            <a:ext cx="7200719" cy="3757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An anomaly flag indicates an unusual pattern, not a confirmed problem.</a:t>
            </a:r>
          </a:p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system does not predict collisions or calculate collision probability.</a:t>
            </a:r>
          </a:p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two methods use some of the same orbital features, so their results are not fully independent.</a:t>
            </a:r>
          </a:p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prototype depends on the available data and selected detection methods.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372362" y="1963788"/>
            <a:ext cx="8019850" cy="7427862"/>
            <a:chOff x="0" y="0"/>
            <a:chExt cx="10693133" cy="990381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93146" cy="9903714"/>
            </a:xfrm>
            <a:custGeom>
              <a:avLst/>
              <a:gdLst/>
              <a:ahLst/>
              <a:cxnLst/>
              <a:rect l="l" t="t" r="r" b="b"/>
              <a:pathLst>
                <a:path w="10693146" h="9903714">
                  <a:moveTo>
                    <a:pt x="0" y="137414"/>
                  </a:moveTo>
                  <a:cubicBezTo>
                    <a:pt x="0" y="61595"/>
                    <a:pt x="61595" y="0"/>
                    <a:pt x="137414" y="0"/>
                  </a:cubicBezTo>
                  <a:lnTo>
                    <a:pt x="10555732" y="0"/>
                  </a:lnTo>
                  <a:cubicBezTo>
                    <a:pt x="10631677" y="0"/>
                    <a:pt x="10693146" y="61595"/>
                    <a:pt x="10693146" y="137414"/>
                  </a:cubicBezTo>
                  <a:lnTo>
                    <a:pt x="10693146" y="9766300"/>
                  </a:lnTo>
                  <a:cubicBezTo>
                    <a:pt x="10693146" y="9842246"/>
                    <a:pt x="10631550" y="9903714"/>
                    <a:pt x="10555732" y="9903714"/>
                  </a:cubicBezTo>
                  <a:lnTo>
                    <a:pt x="137414" y="9903714"/>
                  </a:lnTo>
                  <a:cubicBezTo>
                    <a:pt x="61595" y="9903841"/>
                    <a:pt x="0" y="9842246"/>
                    <a:pt x="0" y="9766300"/>
                  </a:cubicBezTo>
                  <a:close/>
                </a:path>
              </a:pathLst>
            </a:custGeom>
            <a:solidFill>
              <a:srgbClr val="EBF1F7"/>
            </a:solidFill>
            <a:ln w="19050" cap="sq">
              <a:solidFill>
                <a:srgbClr val="8BA4BF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9781927" y="2373363"/>
            <a:ext cx="714356" cy="714375"/>
            <a:chOff x="0" y="0"/>
            <a:chExt cx="952475" cy="95250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1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9781927" y="3501171"/>
            <a:ext cx="7200719" cy="580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4350" b="1" spc="-64">
                <a:solidFill>
                  <a:srgbClr val="1A2E4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Future Scope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81927" y="4344591"/>
            <a:ext cx="7200719" cy="238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 dirty="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Evaluate the methods on additional orbital datasets.</a:t>
            </a:r>
          </a:p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 dirty="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Improve the way flagged satellites are reviewed and compared.</a:t>
            </a:r>
          </a:p>
          <a:p>
            <a:pPr marL="407194" lvl="1" indent="-203597" algn="l">
              <a:lnSpc>
                <a:spcPts val="3375"/>
              </a:lnSpc>
              <a:buFont typeface="Arial"/>
              <a:buChar char="•"/>
            </a:pPr>
            <a:r>
              <a:rPr lang="en-US" sz="2250" dirty="0">
                <a:solidFill>
                  <a:srgbClr val="2B3B52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Explore additional orbital features and detection methods.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511</Words>
  <Application>Microsoft Office PowerPoint</Application>
  <PresentationFormat>Custom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Source Sans 3</vt:lpstr>
      <vt:lpstr>Source Sans 3 Bold</vt:lpstr>
      <vt:lpstr>Playfair Display Bold</vt:lpstr>
      <vt:lpstr>Calibri</vt:lpstr>
      <vt:lpstr>Arial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Examine unusual orbital features and relationships between satellites. Combine machine learning and graph analysis to flag records for further inspection.</dc:title>
  <dc:creator>Sushrut Deshmukh</dc:creator>
  <cp:lastModifiedBy>Sushrut Deshmukh</cp:lastModifiedBy>
  <cp:revision>7</cp:revision>
  <dcterms:created xsi:type="dcterms:W3CDTF">2006-08-16T00:00:00Z</dcterms:created>
  <dcterms:modified xsi:type="dcterms:W3CDTF">2026-10-12T10:15:07Z</dcterms:modified>
  <dc:identifier>DAHXyRRImck</dc:identifier>
</cp:coreProperties>
</file>